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194560"/>
            <a:ext cx="10515600" cy="1645920"/>
          </a:xfrm>
        </p:spPr>
        <p:txBody>
          <a:bodyPr wrap="square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Aurora 2026 — Annual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931920"/>
            <a:ext cx="10515600" cy="1097280"/>
          </a:xfrm>
        </p:spPr>
        <p:txBody>
          <a:bodyPr wrap="square" anchor="t"/>
          <a:lstStyle/>
          <a:p>
            <a:pPr algn="l"/>
            <a:r>
              <a:rPr sz="2400" b="0">
                <a:solidFill>
                  <a:srgbClr val="F5C65A"/>
                </a:solidFill>
                <a:latin typeface="Calibri"/>
              </a:rPr>
              <a:t>Strategy, performance and roadmap for the year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155680" y="6035040"/>
            <a:ext cx="822960" cy="137160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6263640"/>
            <a:ext cx="192024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3EC"/>
                </a:solidFill>
                <a:latin typeface="Calibri"/>
              </a:rPr>
              <a:t>Prepared by the Executive Office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377440"/>
            <a:ext cx="7223760" cy="1280160"/>
          </a:xfrm>
        </p:spPr>
        <p:txBody>
          <a:bodyPr wrap="square" anchor="t"/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3749039"/>
            <a:ext cx="7223760" cy="146304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6B7280"/>
                </a:solidFill>
                <a:latin typeface="Calibri"/>
              </a:rPr>
              <a:t>A concise overview of the year's performance and priorities for the quarters ahead.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>
                <a:solidFill>
                  <a:srgbClr val="FF6B6B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1097280" cy="73152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85800"/>
            <a:ext cx="10515600" cy="914400"/>
          </a:xfrm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Highlights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Revenue grew 34% YoY, reaching $248M in annual recurring revenue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Net revenue retention improved to 128%, led by the enterprise segment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Shipped 42 major product releases across four product lines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Expanded into APAC with offices in Singapore and Tokyo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Team grew from 310 to 540 people across 18 countries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" cy="640080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85800"/>
            <a:ext cx="10515600" cy="914400"/>
          </a:xfrm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2025 Results vs. 2026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22960" y="1737360"/>
            <a:ext cx="530352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F6B6B"/>
                </a:solidFill>
                <a:latin typeface="Calibri"/>
              </a:rPr>
              <a:t>2025 Actuals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ARR: $185M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Customers: 1,240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Enterprise mix: 41%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Gross margin: 72%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217920" y="1737360"/>
            <a:ext cx="530352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2026 Targets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ARR: $310M (+67%)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Customers: 1,800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Enterprise mix: 55%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Gross margin: 76%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1920240"/>
            <a:ext cx="36576" cy="4389120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103120"/>
            <a:ext cx="10058400" cy="3108960"/>
          </a:xfrm>
        </p:spPr>
        <p:txBody>
          <a:bodyPr wrap="square" anchor="ctr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 win when our customers ship faster — that is the entire job.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0" b="1">
                <a:solidFill>
                  <a:srgbClr val="FF6B6B"/>
                </a:solidFill>
                <a:latin typeface="Calibr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94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C65A"/>
                </a:solidFill>
                <a:latin typeface="Calibri"/>
              </a:rPr>
              <a:t>— Leadership Offsite, February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5303520"/>
            <a:ext cx="73152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15600" cy="82296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Product Spotlight: Aurora Studio 3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22960" y="1645920"/>
            <a:ext cx="6400800" cy="4663440"/>
          </a:xfrm>
        </p:spPr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>
          <a:xfrm>
            <a:off x="7498079" y="1737360"/>
            <a:ext cx="3931920" cy="4389120"/>
          </a:xfrm>
        </p:spPr>
        <p:txBody>
          <a:bodyPr wrap="square" anchor="t"/>
          <a:lstStyle/>
          <a:p>
            <a:pPr algn="l"/>
            <a:r>
              <a:rPr sz="1800" b="0">
                <a:solidFill>
                  <a:srgbClr val="142A4C"/>
                </a:solidFill>
                <a:latin typeface="Calibri"/>
              </a:rPr>
              <a:t>A rebuilt workspace that brings planning, authoring and review into a single canvas. Early-access customers report a 3.1× reduction in round-trips between design and engineering.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554480"/>
            <a:ext cx="731520" cy="73152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377440"/>
            <a:ext cx="7223760" cy="1280160"/>
          </a:xfrm>
        </p:spPr>
        <p:txBody>
          <a:bodyPr wrap="square" anchor="t"/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Market &amp; Customers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3749039"/>
            <a:ext cx="7223760" cy="146304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6B7280"/>
                </a:solidFill>
                <a:latin typeface="Calibri"/>
              </a:rPr>
              <a:t>Where we are winning, where we are behind, and how the customer base is evolving.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>
                <a:solidFill>
                  <a:srgbClr val="FF6B6B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1097280" cy="73152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85800"/>
            <a:ext cx="10515600" cy="914400"/>
          </a:xfrm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Market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Total addressable market estimated at $48B, growing 19% annually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Top three competitors control 38% of the enterprise segment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Mid-market is consolidating: 7 notable M&amp;A events in the past year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Buyer priorities have shifted toward integrated, AI-native workflows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Security and data residency now rank in the top three buying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" cy="640080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85800"/>
            <a:ext cx="10515600" cy="914400"/>
          </a:xfrm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Where We Are Winning vs. Where We Must Improve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22960" y="1737360"/>
            <a:ext cx="530352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F6B6B"/>
                </a:solidFill>
                <a:latin typeface="Calibri"/>
              </a:rPr>
              <a:t>Winning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Fastest onboarding in the category (4.2 days median)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Highest NPS in the segment (+61)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Deep integrations with the top five data warehouses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217920" y="1737360"/>
            <a:ext cx="530352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Must Improve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Mobile experience lags behind competitors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Partner channel contributes only 12% of new ARR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Localization coverage: 11 languages vs. 22 for peers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1920240"/>
            <a:ext cx="36576" cy="4389120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377440"/>
            <a:ext cx="7223760" cy="1280160"/>
          </a:xfrm>
        </p:spPr>
        <p:txBody>
          <a:bodyPr wrap="square" anchor="t"/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Financial Deep Dive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3749039"/>
            <a:ext cx="7223760" cy="146304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6B7280"/>
                </a:solidFill>
                <a:latin typeface="Calibri"/>
              </a:rPr>
              <a:t>A closer look at growth drivers, unit economics and operating leverage.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>
                <a:solidFill>
                  <a:srgbClr val="FF6B6B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1097280" cy="73152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85800"/>
            <a:ext cx="10515600" cy="914400"/>
          </a:xfrm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Unit Economics Are Compounding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CAC payback shortened from 18 months to 11 months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LTV / CAC ratio improved from 3.2× to 4.8× over the last six quarters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Gross margin reached 74%, up 6 points year over year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Free cash flow turned positive in Q3 — two quarters ahead of plan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Operating expenses grew 22% while revenue grew 34% — scale is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" cy="640080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103120"/>
            <a:ext cx="10058400" cy="3108960"/>
          </a:xfrm>
        </p:spPr>
        <p:txBody>
          <a:bodyPr wrap="square" anchor="ctr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Compounding beats heroics. Every quarter, a little better — forever.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0" b="1">
                <a:solidFill>
                  <a:srgbClr val="FF6B6B"/>
                </a:solidFill>
                <a:latin typeface="Calibr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94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C65A"/>
                </a:solidFill>
                <a:latin typeface="Calibri"/>
              </a:rPr>
              <a:t>— Aurora Operating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5303520"/>
            <a:ext cx="73152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377440"/>
            <a:ext cx="7223760" cy="1280160"/>
          </a:xfrm>
        </p:spPr>
        <p:txBody>
          <a:bodyPr wrap="square" anchor="t"/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Product &amp;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3749039"/>
            <a:ext cx="7223760" cy="146304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6B7280"/>
                </a:solidFill>
                <a:latin typeface="Calibri"/>
              </a:rPr>
              <a:t>Shipping velocity, the AI platform bet, and the twelve-month roadmap.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>
                <a:solidFill>
                  <a:srgbClr val="FF6B6B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1097280" cy="73152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85800"/>
            <a:ext cx="10515600" cy="914400"/>
          </a:xfrm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Where We Are Investing in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22960" y="1737360"/>
            <a:ext cx="530352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F6B6B"/>
                </a:solidFill>
                <a:latin typeface="Calibri"/>
              </a:rPr>
              <a:t>Foundational Bets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Aurora AI Copilot — intent-level authoring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Unified data model across Studio, Review and Publish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New permissions engine with role-based and attribute-based access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217920" y="1737360"/>
            <a:ext cx="530352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B1F3A"/>
                </a:solidFill>
                <a:latin typeface="Calibri"/>
              </a:rPr>
              <a:t>Horizon Bets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Agents SDK for partners and customers to extend Aurora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On-device / air-gapped deployments for regulated industries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42A4C"/>
                </a:solidFill>
                <a:latin typeface="Calibri"/>
              </a:rPr>
              <a:t>• Aurora Academy — a certification &amp; learning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80760" y="1920240"/>
            <a:ext cx="36576" cy="4389120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85800"/>
            <a:ext cx="10515600" cy="914400"/>
          </a:xfrm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Twelve-Month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Q2 — General availability of Aurora Studio 3 and Copilot v1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Q3 — Mobile rebuild; new permissions engine in closed beta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Q4 — Agents SDK developer preview; launch of Aurora Academy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Q1 2027 — Air-gapped deployments; third-party app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" cy="640080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15600" cy="822960"/>
          </a:xfrm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Customer Story: Helix Robotics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22960" y="1645920"/>
            <a:ext cx="6400800" cy="4663440"/>
          </a:xfrm>
        </p:spPr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>
          <a:xfrm>
            <a:off x="7498079" y="1737360"/>
            <a:ext cx="3931920" cy="4389120"/>
          </a:xfrm>
        </p:spPr>
        <p:txBody>
          <a:bodyPr wrap="square" anchor="t"/>
          <a:lstStyle/>
          <a:p>
            <a:pPr algn="l"/>
            <a:r>
              <a:rPr sz="1800" b="0">
                <a:solidFill>
                  <a:srgbClr val="142A4C"/>
                </a:solidFill>
                <a:latin typeface="Calibri"/>
              </a:rPr>
              <a:t>Helix replaced four internal tools with Aurora. Time from concept to customer delivery dropped from 14 weeks to 6. Their engineering team now spends 28% more time on differentiated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554480"/>
            <a:ext cx="731520" cy="73152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377440"/>
            <a:ext cx="7223760" cy="1280160"/>
          </a:xfrm>
        </p:spPr>
        <p:txBody>
          <a:bodyPr wrap="square" anchor="t"/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People &amp; Culture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3749039"/>
            <a:ext cx="7223760" cy="146304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6B7280"/>
                </a:solidFill>
                <a:latin typeface="Calibri"/>
              </a:rPr>
              <a:t>How we hire, how we grow leaders, and how we keep the culture honest as we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>
                <a:solidFill>
                  <a:srgbClr val="FF6B6B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1097280" cy="73152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85800"/>
            <a:ext cx="10515600" cy="914400"/>
          </a:xfrm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Team &amp;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15600" cy="46634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Team grew from 310 to 540, with the strongest growth in R&amp;D (+72%)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Voluntary attrition held at 6.8%, well below the industry benchmark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Engagement score reached 84, with managers scoring highest on clarity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Introduced a two-track career path: individual contributor and manager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A4C"/>
                </a:solidFill>
                <a:latin typeface="Calibri"/>
              </a:rPr>
              <a:t>Launched internal mobility program — 11% of team changed roles this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" cy="640080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103120"/>
            <a:ext cx="10058400" cy="3108960"/>
          </a:xfrm>
        </p:spPr>
        <p:txBody>
          <a:bodyPr wrap="square" anchor="ctr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next chapter is bigger, but the recipe is the same: customers first, craft always.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0" b="1">
                <a:solidFill>
                  <a:srgbClr val="FF6B6B"/>
                </a:solidFill>
                <a:latin typeface="Calibr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94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5C65A"/>
                </a:solidFill>
                <a:latin typeface="Calibri"/>
              </a:rPr>
              <a:t>— CEO, Annual Letter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5303520"/>
            <a:ext cx="731520" cy="457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377440"/>
            <a:ext cx="7223760" cy="1280160"/>
          </a:xfrm>
        </p:spPr>
        <p:txBody>
          <a:bodyPr wrap="square" anchor="t"/>
          <a:lstStyle/>
          <a:p>
            <a:pPr algn="l"/>
            <a:r>
              <a:rPr sz="4400" b="1">
                <a:solidFill>
                  <a:srgbClr val="0B1F3A"/>
                </a:solidFill>
                <a:latin typeface="Calibri"/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3749039"/>
            <a:ext cx="7223760" cy="1463040"/>
          </a:xfrm>
        </p:spPr>
        <p:txBody>
          <a:bodyPr wrap="square" anchor="t"/>
          <a:lstStyle/>
          <a:p>
            <a:pPr algn="l"/>
            <a:r>
              <a:rPr sz="2000" b="0">
                <a:solidFill>
                  <a:srgbClr val="6B7280"/>
                </a:solidFill>
                <a:latin typeface="Calibri"/>
              </a:rPr>
              <a:t>Questions, feedback and discussion — the floor is yours.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0" b="1">
                <a:solidFill>
                  <a:srgbClr val="FF6B6B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1097280" cy="73152"/>
          </a:xfrm>
          <a:prstGeom prst="rect">
            <a:avLst/>
          </a:prstGeom>
          <a:solidFill>
            <a:srgbClr val="F5C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